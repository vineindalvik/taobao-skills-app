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0" y="1097280"/>
            <a:ext cx="2286000" cy="2286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Tidal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468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4B5FD"/>
                </a:solidFill>
                <a:latin typeface="Microsoft YaHei"/>
              </a:defRPr>
            </a:pPr>
            <a:r>
              <a:t>潮  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 全链路电商助手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2976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4B5FD"/>
                </a:solidFill>
                <a:latin typeface="Microsoft YaHei"/>
              </a:defRPr>
            </a:pPr>
            <a:r>
              <a:t>找爆款，让爆款持续爆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  <a:latin typeface="Microsoft YaHei"/>
              </a:defRPr>
            </a:pPr>
            <a:r>
              <a:t>面向淘宝中小商家（月销 &lt; 100 万）的新品全链路落地工具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7607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  <a:latin typeface="Microsoft YaHei"/>
              </a:defRPr>
            </a:pPr>
            <a:r>
              <a:t>淘宝开放平台 AI 技能大赛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16736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1.1 业务范围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团队介绍与核心能力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创始人 / 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Microsoft YaHei"/>
              </a:defRPr>
            </a:pPr>
            <a:r>
              <a:t>DTC 跨境电商从业者</a:t>
            </a:r>
            <a:br/>
            <a:r>
              <a:t>转型淘宝中小商家服务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电商运营全链路理解</a:t>
            </a:r>
            <a:br/>
            <a:r>
              <a:t>产品设计与用户洞察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AI 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Microsoft YaHei"/>
              </a:defRPr>
            </a:pPr>
            <a:r>
              <a:t>视觉聚类模型实战经验</a:t>
            </a:r>
            <a:br/>
            <a:r>
              <a:t>GATv2 图神经网络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0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选品预测、向量检索</a:t>
            </a:r>
            <a:br/>
            <a:r>
              <a:t>多模态 AI、因果推断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前端工程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Microsoft YaHei"/>
              </a:defRPr>
            </a:pPr>
            <a:r>
              <a:t>Next.js 全栈开发</a:t>
            </a:r>
            <a:br/>
            <a:r>
              <a:t>SaaS 产品 UI/UX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80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产品原型快速落地</a:t>
            </a:r>
            <a:br/>
            <a:r>
              <a:t>现代化交互体验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81B"/>
                </a:solidFill>
                <a:latin typeface="Microsoft YaHei"/>
              </a:defRPr>
            </a:pPr>
            <a:r>
              <a:t>核心优势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35424"/>
            <a:ext cx="137160" cy="137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Microsoft YaHei"/>
              </a:defRPr>
            </a:pPr>
            <a:r>
              <a:t>真实 AI 选品模型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Microsoft YaHei"/>
              </a:defRPr>
            </a:pPr>
            <a:r>
              <a:t>GATv2 + LightGBM 融合，S_F1=0.59（非 LLM 套壳）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38344"/>
            <a:ext cx="137160" cy="137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Microsoft YaHei"/>
              </a:defRPr>
            </a:pPr>
            <a:r>
              <a:t>全链路串联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983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Microsoft YaHei"/>
              </a:defRPr>
            </a:pPr>
            <a:r>
              <a:t>7 个 Skill 数据自动流转，上游输出即下游输入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541264"/>
            <a:ext cx="137160" cy="1371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Microsoft YaHei"/>
              </a:defRPr>
            </a:pPr>
            <a:r>
              <a:t>闭环优化引擎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Microsoft YaHei"/>
              </a:defRPr>
            </a:pPr>
            <a:r>
              <a:t>T+7 自动回测 + 指标追踪 + 建议迭代 = 持续优化飞轮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6044184"/>
            <a:ext cx="137160" cy="1371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989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Microsoft YaHei"/>
              </a:defRPr>
            </a:pPr>
            <a:r>
              <a:t>运筹学定价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Microsoft YaHei"/>
              </a:defRPr>
            </a:pPr>
            <a:r>
              <a:t>赛博牛马 OR 模型降维适配，DID 因果推断 + 拉格朗日优化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16736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1.2 市场分析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1200 万中小商家的共同痛点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914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Microsoft YaHei"/>
              </a:defRPr>
            </a:pPr>
            <a:r>
              <a:t>"我刚进了一批货，接下来该怎么办？"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146304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Microsoft YaHei"/>
              </a:defRPr>
            </a:pPr>
            <a:r>
              <a:t>生意参谋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Microsoft YaHei"/>
              </a:defRPr>
            </a:pPr>
            <a:r>
              <a:t>给数据，不给决策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商家看不懂也用不了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743200"/>
            <a:ext cx="2560320" cy="146304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19" y="2880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Microsoft YaHei"/>
              </a:defRPr>
            </a:pPr>
            <a:r>
              <a:t>万相台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19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Microsoft YaHei"/>
              </a:defRPr>
            </a:pPr>
            <a:r>
              <a:t>最低日预算 300+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19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新品 0 销量无法冷启动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743200"/>
            <a:ext cx="2560320" cy="146304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2880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Microsoft YaHei"/>
              </a:defRPr>
            </a:pPr>
            <a:r>
              <a:t>店小蜜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Microsoft YaHei"/>
              </a:defRPr>
            </a:pPr>
            <a:r>
              <a:t>被动等问题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39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不能主动帮商家卖货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743200"/>
            <a:ext cx="2560320" cy="146304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880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Microsoft YaHei"/>
              </a:defRPr>
            </a:pPr>
            <a:r>
              <a:t>AIGC 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Microsoft YaHei"/>
              </a:defRPr>
            </a:pPr>
            <a:r>
              <a:t>只生成素材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无选品/定价/运营整合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Microsoft YaHei"/>
              </a:defRPr>
            </a:pPr>
            <a:r>
              <a:t>痛点量化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Microsoft YaHei"/>
              </a:defRPr>
            </a:pPr>
            <a:r>
              <a:t>痛点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846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Microsoft YaHei"/>
              </a:defRPr>
            </a:pPr>
            <a:r>
              <a:t>影响面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846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Microsoft YaHei"/>
              </a:defRPr>
            </a:pPr>
            <a:r>
              <a:t>当前解法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846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Microsoft YaHei"/>
              </a:defRPr>
            </a:pPr>
            <a:r>
              <a:t>Tidal 解法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Microsoft YaHei"/>
              </a:defRPr>
            </a:pPr>
            <a:r>
              <a:t>不知道卖什么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Microsoft YaHei"/>
              </a:defRPr>
            </a:pPr>
            <a:r>
              <a:t>80%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凭感觉/看排行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12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GATv2 AI 选品 + 趋势真假判断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40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Microsoft YaHei"/>
              </a:defRPr>
            </a:pPr>
            <a:r>
              <a:t>不会写标题/主图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4406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Microsoft YaHei"/>
              </a:defRPr>
            </a:pPr>
            <a:r>
              <a:t>70%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44067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抄竞品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4406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AI 生成 3 版标题 + 5 张主图方案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Microsoft YaHei"/>
              </a:defRPr>
            </a:pPr>
            <a:r>
              <a:t>不知道定多少钱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760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Microsoft YaHei"/>
              </a:defRPr>
            </a:pPr>
            <a:r>
              <a:t>65%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760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看竞品定价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760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DID 弹性估算 + 拉格朗日最优价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0807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Microsoft YaHei"/>
              </a:defRPr>
            </a:pPr>
            <a:r>
              <a:t>广告投了不赚钱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608075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Microsoft YaHei"/>
              </a:defRPr>
            </a:pPr>
            <a:r>
              <a:t>60%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608075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盲投/关掉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60807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烧钱黑洞识别 + ROI 优化建议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Microsoft YaHei"/>
              </a:defRPr>
            </a:pPr>
            <a:r>
              <a:t>评价变差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Microsoft YaHei"/>
              </a:defRPr>
            </a:pPr>
            <a:r>
              <a:t>55%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6400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逐条看评价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6400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P0/P1/P2 优先级 + 修复模板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16736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1.2 市场分析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业务空间与价值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3716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3AED"/>
                </a:solidFill>
                <a:latin typeface="Microsoft YaHei"/>
              </a:defRPr>
            </a:pPr>
            <a:r>
              <a:t>1200 万+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717A"/>
                </a:solidFill>
                <a:latin typeface="Microsoft YaHei"/>
              </a:defRPr>
            </a:pPr>
            <a:r>
              <a:t>淘宝活跃商家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645920"/>
            <a:ext cx="2560320" cy="13716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19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Microsoft YaHei"/>
              </a:defRPr>
            </a:pPr>
            <a:r>
              <a:t>90%+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19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717A"/>
                </a:solidFill>
                <a:latin typeface="Microsoft YaHei"/>
              </a:defRPr>
            </a:pPr>
            <a:r>
              <a:t>中小商家占比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45920"/>
            <a:ext cx="2560320" cy="13716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6A34A"/>
                </a:solidFill>
                <a:latin typeface="Microsoft YaHei"/>
              </a:defRPr>
            </a:pPr>
            <a:r>
              <a:t>¥24 亿/年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717A"/>
                </a:solidFill>
                <a:latin typeface="Microsoft YaHei"/>
              </a:defRPr>
            </a:pPr>
            <a:r>
              <a:t>目标可触达市场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645920"/>
            <a:ext cx="2560320" cy="13716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7706"/>
                </a:solidFill>
                <a:latin typeface="Microsoft YaHei"/>
              </a:defRPr>
            </a:pPr>
            <a:r>
              <a:t>10x+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717A"/>
                </a:solidFill>
                <a:latin typeface="Microsoft YaHei"/>
              </a:defRPr>
            </a:pPr>
            <a:r>
              <a:t>商家使用 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181B"/>
                </a:solidFill>
                <a:latin typeface="Microsoft YaHei"/>
              </a:defRPr>
            </a:pPr>
            <a:r>
              <a:t>对商家的价值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81B"/>
                </a:solidFill>
                <a:latin typeface="Microsoft YaHei"/>
              </a:defRPr>
            </a:pPr>
            <a:r>
              <a:t>✓  推广费从月均浪费 ¥2000 → 节省 ¥2000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81B"/>
                </a:solidFill>
                <a:latin typeface="Microsoft YaHei"/>
              </a:defRPr>
            </a:pPr>
            <a:r>
              <a:t>✓  新品上架到起量周期缩短 50%+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81B"/>
                </a:solidFill>
                <a:latin typeface="Microsoft YaHei"/>
              </a:defRPr>
            </a:pPr>
            <a:r>
              <a:t>✓  工具费 ¥199/月，ROI 超过 10 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181B"/>
                </a:solidFill>
                <a:latin typeface="Microsoft YaHei"/>
              </a:defRPr>
            </a:pPr>
            <a:r>
              <a:t>对淘宝生态的价值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81B"/>
                </a:solidFill>
                <a:latin typeface="Microsoft YaHei"/>
              </a:defRPr>
            </a:pPr>
            <a:r>
              <a:t>✓  降低中小商家经营门槛，提升平台活跃度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81B"/>
                </a:solidFill>
                <a:latin typeface="Microsoft YaHei"/>
              </a:defRPr>
            </a:pPr>
            <a:r>
              <a:t>✓  丰富淘宝 AI 技能广场生态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81B"/>
                </a:solidFill>
                <a:latin typeface="Microsoft YaHei"/>
              </a:defRPr>
            </a:pPr>
            <a:r>
              <a:t>✓  闭环数据飞轮——用户越多→模型越准→生态越活跃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029200"/>
            <a:ext cx="758952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51206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数据飞轮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5321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1D95"/>
                </a:solidFill>
                <a:latin typeface="Microsoft YaHei"/>
              </a:defRPr>
            </a:pPr>
            <a:r>
              <a:t>用户越多 → T+7 回测数据越多 → 模型越准 → 推荐越好 → 用户越多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16736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1.3 创意方案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一个入口，七步闭环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1717A"/>
                </a:solidFill>
                <a:latin typeface="Microsoft YaHei"/>
              </a:defRPr>
            </a:pPr>
            <a:r>
              <a:t>商家只需一个动作：描述选款方向 / 粘贴淘宝链接 / 上传灵感图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822960" cy="8229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8181B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AI 找款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1097280" cy="29260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2563EB"/>
                </a:solidFill>
                <a:latin typeface="Microsoft YaHei"/>
              </a:defRPr>
            </a:pPr>
            <a:r>
              <a:t>跟款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171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103120"/>
            <a:ext cx="822960" cy="8229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1488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8181B"/>
                </a:solidFill>
                <a:latin typeface="Microsoft YaHei"/>
              </a:defRPr>
            </a:pPr>
            <a:r>
              <a:t>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测款验证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3337560"/>
            <a:ext cx="1097280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测款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171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79" y="2103120"/>
            <a:ext cx="822960" cy="8229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79" y="21488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8181B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上架优化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59" y="3337560"/>
            <a:ext cx="10972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16A34A"/>
                </a:solidFill>
                <a:latin typeface="Microsoft YaHei"/>
              </a:defRPr>
            </a:pPr>
            <a:r>
              <a:t>放量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171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2103120"/>
            <a:ext cx="822960" cy="8229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21488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8181B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智能定价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3337560"/>
            <a:ext cx="10972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16A34A"/>
                </a:solidFill>
                <a:latin typeface="Microsoft YaHei"/>
              </a:defRPr>
            </a:pPr>
            <a:r>
              <a:t>放量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171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2103120"/>
            <a:ext cx="822960" cy="8229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21488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8181B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评价诊断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337560"/>
            <a:ext cx="10972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16A34A"/>
                </a:solidFill>
                <a:latin typeface="Microsoft YaHei"/>
              </a:defRPr>
            </a:pPr>
            <a:r>
              <a:t>放量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171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2103120"/>
            <a:ext cx="822960" cy="8229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21488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8181B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推广诊断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3337560"/>
            <a:ext cx="10972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16A34A"/>
                </a:solidFill>
                <a:latin typeface="Microsoft YaHei"/>
              </a:defRPr>
            </a:pPr>
            <a:r>
              <a:t>放量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171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2103120"/>
            <a:ext cx="822960" cy="8229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21488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8181B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活动促销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24160" y="3337560"/>
            <a:ext cx="10972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16A34A"/>
                </a:solidFill>
                <a:latin typeface="Microsoft YaHei"/>
              </a:defRPr>
            </a:pPr>
            <a:r>
              <a:t>放量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181B"/>
                </a:solidFill>
                <a:latin typeface="Microsoft YaHei"/>
              </a:defRPr>
            </a:pPr>
            <a:r>
              <a:t>核心设计原则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517136"/>
            <a:ext cx="164592" cy="1645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输入极简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Microsoft YaHei"/>
              </a:defRPr>
            </a:pPr>
            <a:r>
              <a:t>最少：一张图 + 类目 + 成本价。商家最多填 3 个字段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5020056"/>
            <a:ext cx="164592" cy="1645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016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输出可执行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4983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Microsoft YaHei"/>
              </a:defRPr>
            </a:pPr>
            <a:r>
              <a:t>每个输出都有 [复制] 按钮，一键贴进千牛后台。不是报告，是清单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5522976"/>
            <a:ext cx="164592" cy="1645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链路自动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896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Microsoft YaHei"/>
              </a:defRPr>
            </a:pPr>
            <a:r>
              <a:t>上游 Skill 输出自动成为下游输入，商家无感。从任意节点切入都可以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6025896"/>
            <a:ext cx="164592" cy="1645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0160" y="5989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闭环优化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Microsoft YaHei"/>
              </a:defRPr>
            </a:pPr>
            <a:r>
              <a:t>T+7 自动回测效果，持续迭代建议。不是一次性报告，是优化飞轮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16736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1.3 创意方案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核心功能：AI 找款 + 测款验证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84632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Skill 1：AI 找款（爆款雷达）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Microsoft YaHei"/>
              </a:defRPr>
            </a:pPr>
            <a:r>
              <a:t>不知道卖什么 → 30 秒给出潜力爆款 + 设计基因解析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560320"/>
            <a:ext cx="4572000" cy="914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Microsoft YaHei"/>
              </a:defRPr>
            </a:pPr>
            <a:r>
              <a:t>L1 风格聚类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来自 MoodBoard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Microsoft YaHei"/>
              </a:defRPr>
            </a:pPr>
            <a:r>
              <a:t>FAISS 向量检索</a:t>
            </a:r>
            <a:br/>
            <a:r>
              <a:t>按视觉/情感相似度聚类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657600"/>
            <a:ext cx="4572000" cy="914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703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L2 趋势判断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77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来自 爆品趋势罗盘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49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Microsoft YaHei"/>
              </a:defRPr>
            </a:pPr>
            <a:r>
              <a:t>区分真实上升趋势</a:t>
            </a:r>
            <a:br/>
            <a:r>
              <a:t>vs 短暂噪音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4754879"/>
            <a:ext cx="4572000" cy="914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80059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Microsoft YaHei"/>
              </a:defRPr>
            </a:pPr>
            <a:r>
              <a:t>L3 爆款预测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7491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来自 我们独有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84631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Microsoft YaHei"/>
              </a:defRPr>
            </a:pPr>
            <a:r>
              <a:t>GATv2 + LightGBM</a:t>
            </a:r>
            <a:br/>
            <a:r>
              <a:t>S/A/B 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3AED"/>
                </a:solidFill>
                <a:latin typeface="Microsoft YaHei"/>
              </a:defRPr>
            </a:pPr>
            <a:r>
              <a:t>输出：S/A/B 等级 + 趋势真实性 + 销量区间 + 设计基因 + 3 个延伸方向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Skill 2：测款验证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Microsoft YaHei"/>
              </a:defRPr>
            </a:pPr>
            <a:r>
              <a:t>从"凭感觉"到"数据驱动"的测款 SOP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651760"/>
            <a:ext cx="3200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预测销量区间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971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基于簇历史 P25/P50/P75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3429000"/>
            <a:ext cx="3200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429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429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8 维度数据录入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749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CTR / CVR / 加购率 / 收藏率等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206240"/>
            <a:ext cx="3200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2062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206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综合评分 0-100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526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"建议放量" 或 "建议换款"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4983479"/>
            <a:ext cx="3200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98347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9834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测前 vs 测后对比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30351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模型自校准，越用越准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5760720"/>
            <a:ext cx="3200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5760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760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止损规则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6080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花费上限 + 最低达标线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16736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1.3 创意方案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核心功能：上架 · 定价 · 评价 · 推广 · 促销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103120" cy="484632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</a:defRPr>
            </a:pPr>
            <a:r>
              <a:t>📝 Skill 3：上架优化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3 版标题（搜索/种草/活动）+ CTR 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5 张主图拍摄方案（构图/光线/场景/道具）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AI 素材优化（去背/色彩/裁剪）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94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SKU 推荐 + 关键词清单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每个输出 [复制] → 千牛后台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554480"/>
            <a:ext cx="2103120" cy="484632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</a:defRPr>
            </a:pPr>
            <a:r>
              <a:t>💰 Skill 4：智能定价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DID 因果推断 → 真实价格弹性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拉格朗日对偶 → GMV 最优价格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20 档枚举表，最优行高亮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794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三层风控：硬拦截/软警告/熔断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阶段自动切换：新品→成长→大促→清尾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554480"/>
            <a:ext cx="2103120" cy="484632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</a:defRPr>
            </a:pPr>
            <a:r>
              <a:t>⭐ Skill 5：评价诊断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P0 立即处理（影响退货率）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P1 本周处理（影响复购）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P2 优化机会（好评词→标题）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794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修复模板一键复制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好评关键词反馈闭环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554480"/>
            <a:ext cx="2103120" cy="484632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</a:defRPr>
            </a:pPr>
            <a:r>
              <a:t>📊 Skill 6：推广诊断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烧钱黑洞识别（高花费低转化）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加价机会（高 ROI 词加预算）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ROI 优化预估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794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基于利润上限计算最大可承受 PPC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1554480"/>
            <a:ext cx="2103120" cy="484632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</a:defRPr>
            </a:pPr>
            <a:r>
              <a:t>🎯 Skill 7：活动促销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赛博牛马 OR 模型降维版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输入毛利目标 → 数学最优折扣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活动节奏：预热/爆发/返场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794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• 悲观场景预警 + 应急策略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16736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1.3 创意方案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产品界面展示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1717A"/>
                </a:solidFill>
                <a:latin typeface="Microsoft YaHei"/>
              </a:defRPr>
            </a:pPr>
            <a:r>
              <a:t>现代 SaaS 设计，对话式入口 + 多标签专业工作台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1371600"/>
          </a:xfrm>
          <a:prstGeom prst="roundRect">
            <a:avLst/>
          </a:prstGeom>
          <a:solidFill>
            <a:srgbClr val="E4E4E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717A"/>
                </a:solidFill>
                <a:latin typeface="Microsoft YaHei"/>
              </a:defRPr>
            </a:pPr>
            <a:r>
              <a:t>[ 产品截图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首页：对话式入口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自然语言描述 → AI 解析 → 确认选款</a:t>
            </a:r>
            <a:br/>
            <a:r>
              <a:t>支持链接解析 + JSON 导入</a:t>
            </a:r>
            <a:br/>
            <a:r>
              <a:t>快速开始样例 + 七步流程预览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371600"/>
          </a:xfrm>
          <a:prstGeom prst="roundRect">
            <a:avLst/>
          </a:prstGeom>
          <a:solidFill>
            <a:srgbClr val="E4E4E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717A"/>
                </a:solidFill>
                <a:latin typeface="Microsoft YaHei"/>
              </a:defRPr>
            </a:pPr>
            <a:r>
              <a:t>[ 产品截图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46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找款工作台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520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簇卡片网格 + S/A/B 徽章</a:t>
            </a:r>
            <a:br/>
            <a:r>
              <a:t>站内外双视角趋势灵感</a:t>
            </a:r>
            <a:br/>
            <a:r>
              <a:t>三步引导：对齐簇→参考爆款→货源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303520" cy="1371600"/>
          </a:xfrm>
          <a:prstGeom prst="roundRect">
            <a:avLst/>
          </a:prstGeom>
          <a:solidFill>
            <a:srgbClr val="E4E4E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4663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717A"/>
                </a:solidFill>
                <a:latin typeface="Microsoft YaHei"/>
              </a:defRPr>
            </a:pPr>
            <a:r>
              <a:t>[ 产品截图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15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定价引擎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算法步骤可视化</a:t>
            </a:r>
            <a:br/>
            <a:r>
              <a:t>20 档价格枚举表</a:t>
            </a:r>
            <a:br/>
            <a:r>
              <a:t>双轴折线图：利润 vs 日销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5303520" cy="1371600"/>
          </a:xfrm>
          <a:prstGeom prst="roundRect">
            <a:avLst/>
          </a:prstGeom>
          <a:solidFill>
            <a:srgbClr val="E4E4E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663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717A"/>
                </a:solidFill>
                <a:latin typeface="Microsoft YaHei"/>
              </a:defRPr>
            </a:pPr>
            <a:r>
              <a:t>[ 产品截图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715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商品管理看板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9893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健康分 0-100 + 进度条</a:t>
            </a:r>
            <a:br/>
            <a:r>
              <a:t>优化时间线（效果追踪）</a:t>
            </a:r>
            <a:br/>
            <a:r>
              <a:t>当前瓶颈 → 一键跳转 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97706"/>
                </a:solidFill>
                <a:latin typeface="Microsoft YaHei"/>
              </a:defRPr>
            </a:pPr>
            <a:r>
              <a:t>注：正式提交时请替换为实际产品截图（http://localhost:3000 各页面）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16736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1.3 创意方案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效果评估指标体系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5661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模型层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566160" cy="5943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GATv2 爆款预测准确率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13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S_F1 / Spearman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≥ 0.59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3566160" cy="5943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24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价格弹性估算误差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99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MAPE（T+7 回测）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88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&lt; 30%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3566160" cy="5943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10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趋势真假判断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85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30 天后验证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&gt; 75%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554480"/>
            <a:ext cx="35661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572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产品层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011680"/>
            <a:ext cx="3566160" cy="5943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全链路完成率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313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7 Skill 完成数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&gt; 60%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697480"/>
            <a:ext cx="3566160" cy="5943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724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操作时间节省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999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对比人工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788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&gt; 70%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383280"/>
            <a:ext cx="3566160" cy="5943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410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建议采纳率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685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执行/建议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&gt; 50%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1554480"/>
            <a:ext cx="3566160" cy="3657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1572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商业层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2011680"/>
            <a:ext cx="3566160" cy="5943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商家 ROI 提升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313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使用前后对比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6A34A"/>
                </a:solidFill>
                <a:latin typeface="Microsoft YaHei"/>
              </a:defRPr>
            </a:pPr>
            <a:r>
              <a:t>+30%+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2697480"/>
            <a:ext cx="3566160" cy="5943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724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新品起量周期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999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上架→日销&gt;5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2788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6A34A"/>
                </a:solidFill>
                <a:latin typeface="Microsoft YaHei"/>
              </a:defRPr>
            </a:pPr>
            <a:r>
              <a:t>缩短 50%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383280"/>
            <a:ext cx="3566160" cy="5943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3410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推广费节省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3685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月均浪费减少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6A34A"/>
                </a:solidFill>
                <a:latin typeface="Microsoft YaHei"/>
              </a:defRPr>
            </a:pPr>
            <a:r>
              <a:t>&gt; ¥2000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181B"/>
                </a:solidFill>
                <a:latin typeface="Microsoft YaHei"/>
              </a:defRPr>
            </a:pPr>
            <a:r>
              <a:t>闭环反馈机制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T+1 预警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303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C1D95"/>
                </a:solidFill>
                <a:latin typeface="Microsoft YaHei"/>
              </a:defRPr>
            </a:pPr>
            <a:r>
              <a:t>销量异常</a:t>
            </a:r>
            <a:br/>
            <a:r>
              <a:t>库存预警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C3AE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T+7 回测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303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C1D95"/>
                </a:solidFill>
                <a:latin typeface="Microsoft YaHei"/>
              </a:defRPr>
            </a:pPr>
            <a:r>
              <a:t>预测 vs 真实</a:t>
            </a:r>
            <a:br/>
            <a:r>
              <a:t>弹性校准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C3AE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T+30 校准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303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C1D95"/>
                </a:solidFill>
                <a:latin typeface="Microsoft YaHei"/>
              </a:defRPr>
            </a:pPr>
            <a:r>
              <a:t>更新训练集</a:t>
            </a:r>
            <a:br/>
            <a:r>
              <a:t>模型 fine-tune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C3AE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数据飞轮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5303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C1D95"/>
                </a:solidFill>
                <a:latin typeface="Microsoft YaHei"/>
              </a:defRPr>
            </a:pPr>
            <a:r>
              <a:t>用户越多</a:t>
            </a:r>
            <a:br/>
            <a:r>
              <a:t>→ 模型越准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16736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1.3 创意方案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技术架构与创新点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Microsoft YaHei"/>
              </a:defRPr>
            </a:pPr>
            <a:r>
              <a:t>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Microsoft YaHei"/>
              </a:defRPr>
            </a:pPr>
            <a:r>
              <a:t>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通义千问 qwen-max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淘宝生态、中文强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Microsoft YaHei"/>
              </a:defRPr>
            </a:pPr>
            <a:r>
              <a:t>图像理解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qwen-vl-max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图片→属性识别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Microsoft YaHei"/>
              </a:defRPr>
            </a:pPr>
            <a:r>
              <a:t>向量检索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FAISS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无需部署，本地跑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Microsoft YaHei"/>
              </a:defRPr>
            </a:pPr>
            <a:r>
              <a:t>预测模型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GATv2 + LightGBM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已有验证结果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Microsoft YaHei"/>
              </a:defRPr>
            </a:pPr>
            <a:r>
              <a:t>因果推断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DID 双重差分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真实价格弹性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Microsoft YaHei"/>
              </a:defRPr>
            </a:pPr>
            <a:r>
              <a:t>优化求解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拉格朗日 + 枚举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数学最优定价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Microsoft YaHei"/>
              </a:defRPr>
            </a:pPr>
            <a:r>
              <a:t>Next.js + Tailwind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现代 SaaS 体验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Microsoft YaHei"/>
              </a:defRPr>
            </a:pPr>
            <a:r>
              <a:t>五大核心创新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920240"/>
            <a:ext cx="3200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9202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真实 AI 选品模型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2402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GATv2 图神经网络 + LightGBM</a:t>
            </a:r>
            <a:br/>
            <a:r>
              <a:t>非 LLM Prompt 套壳（S_F1=0.59）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880360"/>
            <a:ext cx="3200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MoodBoard 三位一体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风格聚类 + 趋势真假判断</a:t>
            </a:r>
            <a:br/>
            <a:r>
              <a:t>+ 爆款预测三层叠加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840480"/>
            <a:ext cx="3200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840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运筹学动态定价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1605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赛博牛马 OR 降维版</a:t>
            </a:r>
            <a:br/>
            <a:r>
              <a:t>DID 因果推断 + 拉格朗日优化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800600"/>
            <a:ext cx="3200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800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评价→选品闭环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1206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差评标签→特征库</a:t>
            </a:r>
            <a:br/>
            <a:r>
              <a:t>选款自动过滤高风险属性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760720"/>
            <a:ext cx="3200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760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Microsoft YaHei"/>
              </a:defRPr>
            </a:pPr>
            <a:r>
              <a:t>不滥用 LLM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080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预测用小模型、优化用 OR</a:t>
            </a:r>
            <a:br/>
            <a:r>
              <a:t>因果推断用统计方法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394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Microsoft YaHei"/>
              </a:defRPr>
            </a:pPr>
            <a:r>
              <a:t>模型选择策略：用对工具，不滥用 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760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结构化预测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989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→ GATv2 / LightGBM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5760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约束优化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5989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→ OR 求解器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5760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向量检索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5989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→ FAISS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760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因果推断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989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→ DID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760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语言生成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989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→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5760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图像理解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5989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→ 多模态 LLM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16736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1.3 创意方案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借鉴与差异化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103120" cy="32004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</a:defRPr>
            </a:pPr>
            <a:r>
              <a:t>MoodBoard AI</a:t>
            </a:r>
            <a:br/>
            <a:r>
              <a:t>(ID:12)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原始：独立站买手工具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8181B"/>
                </a:solidFill>
                <a:latin typeface="Microsoft YaHei"/>
              </a:defRPr>
            </a:pPr>
            <a:r>
              <a:t>我们的改造：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降维到单商家：</a:t>
            </a:r>
            <a:br/>
            <a:r>
              <a:t>以图找款 + 设计基因解析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0"/>
            <a:ext cx="1152144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Skill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554480"/>
            <a:ext cx="2103120" cy="32004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</a:defRPr>
            </a:pPr>
            <a:r>
              <a:t>爆品趋势罗盘</a:t>
            </a:r>
            <a:br/>
            <a:r>
              <a:t>(ID:46)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原始：买手趋势向导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8181B"/>
                </a:solidFill>
                <a:latin typeface="Microsoft YaHei"/>
              </a:defRPr>
            </a:pPr>
            <a:r>
              <a:t>我们的改造：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971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加入趋势真实性</a:t>
            </a:r>
            <a:br/>
            <a:r>
              <a:t>过滤层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114800"/>
            <a:ext cx="1152144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Skill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554480"/>
            <a:ext cx="2103120" cy="32004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</a:defRPr>
            </a:pPr>
            <a:r>
              <a:t>赛博牛马</a:t>
            </a:r>
            <a:br/>
            <a:r>
              <a:t>(ID:33)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原始：大品牌大促运营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8181B"/>
                </a:solidFill>
                <a:latin typeface="Microsoft YaHei"/>
              </a:defRPr>
            </a:pPr>
            <a:r>
              <a:t>我们的改造：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971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降维到中小商家单品：</a:t>
            </a:r>
            <a:br/>
            <a:r>
              <a:t>阶段化动态定价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4114800"/>
            <a:ext cx="1481328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Skill 4+7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554480"/>
            <a:ext cx="2103120" cy="32004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</a:defRPr>
            </a:pPr>
            <a:r>
              <a:t>爆款照妖镜</a:t>
            </a:r>
            <a:br/>
            <a:r>
              <a:t>(ID:40)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原始：内部运营工具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8181B"/>
                </a:solidFill>
                <a:latin typeface="Microsoft YaHei"/>
              </a:defRPr>
            </a:pPr>
            <a:r>
              <a:t>我们的改造：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971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"当前款 vs 类目爆款"</a:t>
            </a:r>
            <a:br/>
            <a:r>
              <a:t>自动对标诊断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4114800"/>
            <a:ext cx="1152144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Skill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554480"/>
            <a:ext cx="2103120" cy="32004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</a:defRPr>
            </a:pPr>
            <a:r>
              <a:t>尚镜 StyleLens</a:t>
            </a:r>
            <a:br/>
            <a:r>
              <a:t>(ID:88)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Microsoft YaHei"/>
              </a:defRPr>
            </a:pPr>
            <a:r>
              <a:t>原始：独立站买手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8181B"/>
                </a:solidFill>
                <a:latin typeface="Microsoft YaHei"/>
              </a:defRPr>
            </a:pPr>
            <a:r>
              <a:t>我们的改造：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971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Microsoft YaHei"/>
              </a:defRPr>
            </a:pPr>
            <a:r>
              <a:t>爆款后自动生成</a:t>
            </a:r>
            <a:br/>
            <a:r>
              <a:t>3 个安全延伸方向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4114800"/>
            <a:ext cx="1152144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Skill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Microsoft YaHei"/>
              </a:defRPr>
            </a:pPr>
            <a:r>
              <a:t>关键差异：我们不是单点工具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Microsoft YaHei"/>
              </a:defRPr>
            </a:pPr>
            <a:r>
              <a:t>现有工具：选品 [ ] 测款 [ ] 上架 [部分] 定价 [ ] 评价 [数据] 推广 [付费] 促销 [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</a:defRPr>
            </a:pPr>
            <a:r>
              <a:t>Tidal：     选品 [AI] 测款 [AI] 上架 [AI]  定价 [AI] 评价 [AI]  推广 [AI]  促销 [AI]  ← 七环打通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81328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1.4 商业化方案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商业化定价策略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36576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1717A"/>
                </a:solidFill>
                <a:latin typeface="Microsoft YaHei"/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Microsoft YaHei"/>
              </a:defRPr>
            </a:pPr>
            <a:r>
              <a:t>免费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✓  每月 3 次全链路分析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✓  每次输出 1 个版本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✓  基础 7 Skill 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091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目标：用户获取 / 评审演示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474720" cy="3657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79" y="1645920"/>
            <a:ext cx="109728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Microsoft YaHei"/>
              </a:defRPr>
            </a:pPr>
            <a:r>
              <a:t>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Microsoft YaHei"/>
              </a:defRPr>
            </a:pPr>
            <a:r>
              <a:t>¥199/月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✓  无限次全链路分析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✓  每次输出 3 版对比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✓  评价监控自动触发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794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✓  T+7 自动回测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目标：付费主力（单店商家）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3474720" cy="36576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1717A"/>
                </a:solidFill>
                <a:latin typeface="Microsoft YaHei"/>
              </a:defRPr>
            </a:pPr>
            <a:r>
              <a:t>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Microsoft YaHei"/>
              </a:defRPr>
            </a:pPr>
            <a:r>
              <a:t>¥599/月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✓  Pro 全部功能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✓  多店铺（最多 5 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✓  API 接入（对接 ERP）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794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✓  专属顾问 1v1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Microsoft YaHei"/>
              </a:defRPr>
            </a:pPr>
            <a:r>
              <a:t>目标：多店/团队商家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Microsoft YaHei"/>
              </a:defRPr>
            </a:pPr>
            <a:r>
              <a:t>定价合理性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8064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•  生意参谋专业版 ¥288/月（不给行动建议）→ 我们 ¥199 给完整行动清单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0624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•  帮商家月省推广费 ¥2000+ → 工具费 ¥199/月，ROI &gt; 10 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31850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•  盈亏平衡：约 50 个 Pro 用户即可覆盖基础成本（LLM API + 服务器）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657453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Microsoft YaHei"/>
              </a:defRPr>
            </a:pPr>
            <a:r>
              <a:t>•  LTV ¥1,888（年付）vs CAC ¥50-100 → LTV/CAC &gt;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81328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1.4 商业化方案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规模化路径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验证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256032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Microsoft YaHei"/>
              </a:defRPr>
            </a:pPr>
            <a:r>
              <a:t>第一阶段</a:t>
            </a:r>
            <a:br/>
            <a:r>
              <a:t>1-3 个月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AI 技能广场 + 商家群裂变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小红书效果案例传播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100 免费 → 20 付费用户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核心：7 日留存 &gt; 40%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554480"/>
            <a:ext cx="347472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572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增长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920240"/>
            <a:ext cx="3474720" cy="256032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Microsoft YaHei"/>
              </a:defRPr>
            </a:pPr>
            <a:r>
              <a:t>第二阶段</a:t>
            </a:r>
            <a:br/>
            <a:r>
              <a:t>3-12 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651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淘宝服务市场 + 培训机构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3017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SEM 投放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3383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1,000 付费用户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3749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月收入 ~¥20 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34747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572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规模化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920240"/>
            <a:ext cx="3474720" cy="256032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Microsoft YaHei"/>
              </a:defRPr>
            </a:pPr>
            <a:r>
              <a:t>第三阶段</a:t>
            </a:r>
            <a:br/>
            <a:r>
              <a:t>1-2 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51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类目扩展：女装→男装→家居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017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平台扩展：拼多多/京东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383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数据飞轮加速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749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•  ARR &gt; 300 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Microsoft YaHei"/>
              </a:defRPr>
            </a:pPr>
            <a:r>
              <a:t>收入预测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03520"/>
            <a:ext cx="10698480" cy="13716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1717A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1717A"/>
                </a:solidFill>
                <a:latin typeface="Microsoft YaHei"/>
              </a:defRPr>
            </a:pPr>
            <a:r>
              <a:t>付费用户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1717A"/>
                </a:solidFill>
                <a:latin typeface="Microsoft YaHei"/>
              </a:defRPr>
            </a:pPr>
            <a:r>
              <a:t>ARPU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59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1717A"/>
                </a:solidFill>
                <a:latin typeface="Microsoft YaHei"/>
              </a:defRPr>
            </a:pPr>
            <a:r>
              <a:t>月收入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3 个月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715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715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¥199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5715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Microsoft YaHei"/>
              </a:defRPr>
            </a:pPr>
            <a:r>
              <a:t>¥10,000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989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6 个月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989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300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989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¥199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59" y="5989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Microsoft YaHei"/>
              </a:defRPr>
            </a:pPr>
            <a:r>
              <a:t>¥60,000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263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12 个月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6263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1,200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6263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¥220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59" y="6263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Microsoft YaHei"/>
              </a:defRPr>
            </a:pPr>
            <a:r>
              <a:t>¥264,000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6537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24 个月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6537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5,000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6537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¥250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59" y="6537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Microsoft YaHei"/>
              </a:defRPr>
            </a:pPr>
            <a:r>
              <a:t>¥1,250,000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81328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1.4 商业化方案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竞争壁垒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51760" cy="32004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技术壁垒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GATv2 选品模型（已训练验证）</a:t>
            </a:r>
            <a:br/>
            <a:r>
              <a:t>DID 因果推断 + OR 定价</a:t>
            </a:r>
            <a:br/>
            <a:r>
              <a:t>需要大量电商数据和工程投入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109728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可持续性：高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651760" cy="32004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5176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数据壁垒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48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评价→选品闭环 + T+7 回测</a:t>
            </a:r>
            <a:br/>
            <a:r>
              <a:t>数据飞轮：用户越多越准</a:t>
            </a:r>
            <a:br/>
            <a:r>
              <a:t>网络效应形成护城河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114800"/>
            <a:ext cx="1097280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可持续性：高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651760" cy="32004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产品壁垒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七环串联、链路自动流转</a:t>
            </a:r>
            <a:br/>
            <a:r>
              <a:t>vs 竞品单点工具</a:t>
            </a:r>
            <a:br/>
            <a:r>
              <a:t>全链路体验难以复制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1152144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可持续性：中高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554480"/>
            <a:ext cx="2651760" cy="320040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8280" y="1554480"/>
            <a:ext cx="265176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生态壁垒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148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Microsoft YaHei"/>
              </a:defRPr>
            </a:pPr>
            <a:r>
              <a:t>淘宝官方黑客松</a:t>
            </a:r>
            <a:br/>
            <a:r>
              <a:t>可获官方流量扶持</a:t>
            </a:r>
            <a:br/>
            <a:r>
              <a:t>先发优势 + 官方背书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4114800"/>
            <a:ext cx="109728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可持续性：高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核心护城河：数据飞轮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23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1D95"/>
                </a:solidFill>
                <a:latin typeface="Microsoft YaHei"/>
              </a:defRPr>
            </a:pPr>
            <a:r>
              <a:t>用户使用 → 产生真实交易数据 → T+7 回测 → 模型更准 → 推荐更好 → 更多用户使用</a:t>
            </a:r>
            <a:br/>
            <a:r>
              <a:t>这个飞轮一旦转起来，后来者需要同等量级的数据才能追平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137160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Tidal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4B5FD"/>
                </a:solidFill>
                <a:latin typeface="Microsoft YaHei"/>
              </a:defRPr>
            </a:pPr>
            <a:r>
              <a:t>潮  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找爆款，让爆款持续爆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4B5FD"/>
                </a:solidFill>
                <a:latin typeface="Microsoft YaHei"/>
              </a:defRPr>
            </a:pPr>
            <a:r>
              <a:t>不只帮你找到爆款，更让它一直爆下去。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212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B5FD"/>
                </a:solidFill>
                <a:latin typeface="Microsoft YaHei"/>
              </a:defRPr>
            </a:pPr>
            <a:r>
              <a:t>✓  一个入口，七步闭环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532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B5FD"/>
                </a:solidFill>
                <a:latin typeface="Microsoft YaHei"/>
              </a:defRPr>
            </a:pPr>
            <a:r>
              <a:t>✓  真实 AI 模型，不是 LLM 套壳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852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B5FD"/>
                </a:solidFill>
                <a:latin typeface="Microsoft YaHei"/>
              </a:defRPr>
            </a:pPr>
            <a:r>
              <a:t>✓  运筹学定价，数学最优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172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B5FD"/>
                </a:solidFill>
                <a:latin typeface="Microsoft YaHei"/>
              </a:defRPr>
            </a:pPr>
            <a:r>
              <a:t>✓  数据飞轮，越用越准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2179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78BFA"/>
                </a:solidFill>
                <a:latin typeface="Microsoft YaHei"/>
              </a:defRPr>
            </a:pPr>
            <a:r>
              <a:t>提交入口：https://open.taobao.com/ai2026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